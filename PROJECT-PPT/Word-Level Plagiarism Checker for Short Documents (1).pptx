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 Condensed" panose="020B0604020202020204" charset="0"/>
      <p:regular r:id="rId14"/>
    </p:embeddedFont>
    <p:embeddedFont>
      <p:font typeface="Bernoru SemiCondensed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Canva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/>
          <p:nvPr/>
        </p:nvGrpSpPr>
        <p:grpSpPr>
          <a:xfrm>
            <a:off x="0" y="388862"/>
            <a:ext cx="18288000" cy="3611638"/>
            <a:chOff x="0" y="0"/>
            <a:chExt cx="6238312" cy="528052"/>
          </a:xfrm>
        </p:grpSpPr>
        <p:sp>
          <p:nvSpPr>
            <p:cNvPr id="13" name="Freeform 3"/>
            <p:cNvSpPr/>
            <p:nvPr/>
          </p:nvSpPr>
          <p:spPr>
            <a:xfrm>
              <a:off x="0" y="0"/>
              <a:ext cx="6238312" cy="528052"/>
            </a:xfrm>
            <a:custGeom>
              <a:avLst/>
              <a:gdLst/>
              <a:ahLst/>
              <a:cxnLst/>
              <a:rect l="l" t="t" r="r" b="b"/>
              <a:pathLst>
                <a:path w="6238312" h="528052">
                  <a:moveTo>
                    <a:pt x="0" y="0"/>
                  </a:moveTo>
                  <a:lnTo>
                    <a:pt x="6238312" y="0"/>
                  </a:lnTo>
                  <a:lnTo>
                    <a:pt x="6238312" y="528052"/>
                  </a:lnTo>
                  <a:lnTo>
                    <a:pt x="0" y="528052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4"/>
            <p:cNvSpPr txBox="1"/>
            <p:nvPr/>
          </p:nvSpPr>
          <p:spPr>
            <a:xfrm>
              <a:off x="0" y="-47625"/>
              <a:ext cx="6238312" cy="57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-2699046" y="9258300"/>
            <a:ext cx="23686092" cy="2886009"/>
            <a:chOff x="0" y="0"/>
            <a:chExt cx="6238312" cy="760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38312" cy="760101"/>
            </a:xfrm>
            <a:custGeom>
              <a:avLst/>
              <a:gdLst/>
              <a:ahLst/>
              <a:cxnLst/>
              <a:rect l="l" t="t" r="r" b="b"/>
              <a:pathLst>
                <a:path w="6238312" h="760101">
                  <a:moveTo>
                    <a:pt x="0" y="0"/>
                  </a:moveTo>
                  <a:lnTo>
                    <a:pt x="6238312" y="0"/>
                  </a:lnTo>
                  <a:lnTo>
                    <a:pt x="6238312" y="760101"/>
                  </a:lnTo>
                  <a:lnTo>
                    <a:pt x="0" y="760101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238312" cy="807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595484" y="5679873"/>
            <a:ext cx="3453862" cy="4050371"/>
          </a:xfrm>
          <a:custGeom>
            <a:avLst/>
            <a:gdLst/>
            <a:ahLst/>
            <a:cxnLst/>
            <a:rect l="l" t="t" r="r" b="b"/>
            <a:pathLst>
              <a:path w="3453862" h="4050371">
                <a:moveTo>
                  <a:pt x="3453862" y="0"/>
                </a:moveTo>
                <a:lnTo>
                  <a:pt x="0" y="0"/>
                </a:lnTo>
                <a:lnTo>
                  <a:pt x="0" y="4050371"/>
                </a:lnTo>
                <a:lnTo>
                  <a:pt x="3453862" y="4050371"/>
                </a:lnTo>
                <a:lnTo>
                  <a:pt x="34538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682117" y="5902816"/>
            <a:ext cx="3074109" cy="3715956"/>
          </a:xfrm>
          <a:custGeom>
            <a:avLst/>
            <a:gdLst/>
            <a:ahLst/>
            <a:cxnLst/>
            <a:rect l="l" t="t" r="r" b="b"/>
            <a:pathLst>
              <a:path w="3074109" h="3715956">
                <a:moveTo>
                  <a:pt x="3074109" y="0"/>
                </a:moveTo>
                <a:lnTo>
                  <a:pt x="0" y="0"/>
                </a:lnTo>
                <a:lnTo>
                  <a:pt x="0" y="3715957"/>
                </a:lnTo>
                <a:lnTo>
                  <a:pt x="3074109" y="3715957"/>
                </a:lnTo>
                <a:lnTo>
                  <a:pt x="30741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88186" y="5416581"/>
            <a:ext cx="5311628" cy="4345877"/>
          </a:xfrm>
          <a:custGeom>
            <a:avLst/>
            <a:gdLst/>
            <a:ahLst/>
            <a:cxnLst/>
            <a:rect l="l" t="t" r="r" b="b"/>
            <a:pathLst>
              <a:path w="5311628" h="4345877">
                <a:moveTo>
                  <a:pt x="0" y="0"/>
                </a:moveTo>
                <a:lnTo>
                  <a:pt x="5311628" y="0"/>
                </a:lnTo>
                <a:lnTo>
                  <a:pt x="5311628" y="4345878"/>
                </a:lnTo>
                <a:lnTo>
                  <a:pt x="0" y="4345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563964"/>
            <a:ext cx="16230600" cy="154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1"/>
              </a:lnSpc>
            </a:pPr>
            <a:r>
              <a:rPr lang="en-US" sz="5901" b="1" dirty="0">
                <a:solidFill>
                  <a:srgbClr val="000000"/>
                </a:solidFill>
                <a:latin typeface="Times New Roman" panose="02020603050405020304" pitchFamily="18" charset="0"/>
                <a:ea typeface="Bernoru SemiCondensed"/>
                <a:cs typeface="Times New Roman" panose="02020603050405020304" pitchFamily="18" charset="0"/>
                <a:sym typeface="Bernoru SemiCondensed"/>
              </a:rPr>
              <a:t>WORD-LEVEL PLAGIARISM CHECKER FOR SHORT 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484" y="4043717"/>
            <a:ext cx="9144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2520090078 - Hitesh Suthar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2520090136 – Vasudeva</a:t>
            </a:r>
          </a:p>
          <a:p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- 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Chandusha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kanda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221" y="-26577"/>
            <a:ext cx="1581150" cy="142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>
          <a:xfrm>
            <a:off x="13855" y="262287"/>
            <a:ext cx="18288000" cy="2004947"/>
            <a:chOff x="0" y="0"/>
            <a:chExt cx="6238312" cy="528052"/>
          </a:xfrm>
        </p:grpSpPr>
        <p:sp>
          <p:nvSpPr>
            <p:cNvPr id="5" name="Freeform 3"/>
            <p:cNvSpPr/>
            <p:nvPr/>
          </p:nvSpPr>
          <p:spPr>
            <a:xfrm>
              <a:off x="0" y="0"/>
              <a:ext cx="6238312" cy="528052"/>
            </a:xfrm>
            <a:custGeom>
              <a:avLst/>
              <a:gdLst/>
              <a:ahLst/>
              <a:cxnLst/>
              <a:rect l="l" t="t" r="r" b="b"/>
              <a:pathLst>
                <a:path w="6238312" h="528052">
                  <a:moveTo>
                    <a:pt x="0" y="0"/>
                  </a:moveTo>
                  <a:lnTo>
                    <a:pt x="6238312" y="0"/>
                  </a:lnTo>
                  <a:lnTo>
                    <a:pt x="6238312" y="528052"/>
                  </a:lnTo>
                  <a:lnTo>
                    <a:pt x="0" y="528052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4"/>
            <p:cNvSpPr txBox="1"/>
            <p:nvPr/>
          </p:nvSpPr>
          <p:spPr>
            <a:xfrm>
              <a:off x="0" y="-47625"/>
              <a:ext cx="6238312" cy="57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4800600" y="415709"/>
            <a:ext cx="7574184" cy="151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58709" y="2471163"/>
            <a:ext cx="17198292" cy="5501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endParaRPr lang="en-US" sz="2800" dirty="0" smtClean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Word-Level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Plagiarism Checker is a software system designed to identify copied or duplicated content in short documents.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It compares the words and phrases of a submitted document with reference or existing text.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The system performs text extraction and preprocessing to remove unnecessary characters and standardize the content.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It uses tokenization to divide the document into individual words or meaningful units.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The system performs word-level comparison to identify matching or similar words and phrases.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A similarity score is calculated to measure the percentage of matching content.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It helps users quickly detect possible plagiarism in assignments, reports, articles, and other short documents.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The system can generate a plagiarism report showing the detected similarities and overall plagiarism percentage.</a:t>
            </a:r>
          </a:p>
        </p:txBody>
      </p:sp>
      <p:pic>
        <p:nvPicPr>
          <p:cNvPr id="8" name="Picture 4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221" y="-26577"/>
            <a:ext cx="1581150" cy="142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65"/>
            <a:ext cx="18288000" cy="2004947"/>
            <a:chOff x="0" y="0"/>
            <a:chExt cx="6238312" cy="5280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38312" cy="528052"/>
            </a:xfrm>
            <a:custGeom>
              <a:avLst/>
              <a:gdLst/>
              <a:ahLst/>
              <a:cxnLst/>
              <a:rect l="l" t="t" r="r" b="b"/>
              <a:pathLst>
                <a:path w="6238312" h="528052">
                  <a:moveTo>
                    <a:pt x="0" y="0"/>
                  </a:moveTo>
                  <a:lnTo>
                    <a:pt x="6238312" y="0"/>
                  </a:lnTo>
                  <a:lnTo>
                    <a:pt x="6238312" y="528052"/>
                  </a:lnTo>
                  <a:lnTo>
                    <a:pt x="0" y="528052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238312" cy="57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7200" y="2781300"/>
            <a:ext cx="8329604" cy="6477000"/>
            <a:chOff x="0" y="0"/>
            <a:chExt cx="2193805" cy="19155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3805" cy="1915556"/>
            </a:xfrm>
            <a:custGeom>
              <a:avLst/>
              <a:gdLst/>
              <a:ahLst/>
              <a:cxnLst/>
              <a:rect l="l" t="t" r="r" b="b"/>
              <a:pathLst>
                <a:path w="2193805" h="1915556">
                  <a:moveTo>
                    <a:pt x="0" y="0"/>
                  </a:moveTo>
                  <a:lnTo>
                    <a:pt x="2193805" y="0"/>
                  </a:lnTo>
                  <a:lnTo>
                    <a:pt x="2193805" y="1915556"/>
                  </a:lnTo>
                  <a:lnTo>
                    <a:pt x="0" y="1915556"/>
                  </a:lnTo>
                  <a:close/>
                </a:path>
              </a:pathLst>
            </a:custGeom>
            <a:solidFill>
              <a:srgbClr val="FAF4EA"/>
            </a:solidFill>
            <a:ln cap="sq">
              <a:noFill/>
              <a:prstDash val="sysDot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3805" cy="1963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67000" y="950967"/>
            <a:ext cx="13680379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9"/>
              </a:lnSpc>
            </a:pPr>
            <a:r>
              <a:rPr lang="en-US" sz="7299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Bernoru SemiCondensed"/>
                <a:cs typeface="Times New Roman" panose="02020603050405020304" pitchFamily="18" charset="0"/>
                <a:sym typeface="Bernoru SemiCondensed"/>
              </a:rPr>
              <a:t>SOFTWARE </a:t>
            </a:r>
            <a:r>
              <a:rPr lang="en-US" sz="7299" b="1" dirty="0">
                <a:solidFill>
                  <a:srgbClr val="000000"/>
                </a:solidFill>
                <a:latin typeface="Times New Roman" panose="02020603050405020304" pitchFamily="18" charset="0"/>
                <a:ea typeface="Bernoru SemiCondensed"/>
                <a:cs typeface="Times New Roman" panose="02020603050405020304" pitchFamily="18" charset="0"/>
                <a:sym typeface="Bernoru SemiCondensed"/>
              </a:rPr>
              <a:t>REQUIREMENTS</a:t>
            </a:r>
          </a:p>
        </p:txBody>
      </p:sp>
      <p:sp>
        <p:nvSpPr>
          <p:cNvPr id="9" name="Freeform 9"/>
          <p:cNvSpPr/>
          <p:nvPr/>
        </p:nvSpPr>
        <p:spPr>
          <a:xfrm>
            <a:off x="9921976" y="3037807"/>
            <a:ext cx="7602825" cy="6220493"/>
          </a:xfrm>
          <a:custGeom>
            <a:avLst/>
            <a:gdLst/>
            <a:ahLst/>
            <a:cxnLst/>
            <a:rect l="l" t="t" r="r" b="b"/>
            <a:pathLst>
              <a:path w="7602825" h="6220493">
                <a:moveTo>
                  <a:pt x="0" y="0"/>
                </a:moveTo>
                <a:lnTo>
                  <a:pt x="7602826" y="0"/>
                </a:lnTo>
                <a:lnTo>
                  <a:pt x="7602826" y="6220493"/>
                </a:lnTo>
                <a:lnTo>
                  <a:pt x="0" y="6220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Rectangle 1"/>
          <p:cNvSpPr>
            <a:spLocks noChangeArrowheads="1"/>
          </p:cNvSpPr>
          <p:nvPr/>
        </p:nvSpPr>
        <p:spPr bwMode="auto">
          <a:xfrm rot="10800000" flipV="1">
            <a:off x="609600" y="3106035"/>
            <a:ext cx="8001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 IDE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Processing: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Java-based text processing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Short text documents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Similarity percentage and plagiarism report </a:t>
            </a:r>
          </a:p>
        </p:txBody>
      </p:sp>
      <p:pic>
        <p:nvPicPr>
          <p:cNvPr id="11" name="Picture 4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221" y="-26577"/>
            <a:ext cx="1581150" cy="142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/>
          <p:cNvGrpSpPr/>
          <p:nvPr/>
        </p:nvGrpSpPr>
        <p:grpSpPr>
          <a:xfrm>
            <a:off x="0" y="353356"/>
            <a:ext cx="18288000" cy="2004947"/>
            <a:chOff x="0" y="0"/>
            <a:chExt cx="6238312" cy="528052"/>
          </a:xfrm>
        </p:grpSpPr>
        <p:sp>
          <p:nvSpPr>
            <p:cNvPr id="15" name="Freeform 3"/>
            <p:cNvSpPr/>
            <p:nvPr/>
          </p:nvSpPr>
          <p:spPr>
            <a:xfrm>
              <a:off x="0" y="0"/>
              <a:ext cx="6238312" cy="528052"/>
            </a:xfrm>
            <a:custGeom>
              <a:avLst/>
              <a:gdLst/>
              <a:ahLst/>
              <a:cxnLst/>
              <a:rect l="l" t="t" r="r" b="b"/>
              <a:pathLst>
                <a:path w="6238312" h="528052">
                  <a:moveTo>
                    <a:pt x="0" y="0"/>
                  </a:moveTo>
                  <a:lnTo>
                    <a:pt x="6238312" y="0"/>
                  </a:lnTo>
                  <a:lnTo>
                    <a:pt x="6238312" y="528052"/>
                  </a:lnTo>
                  <a:lnTo>
                    <a:pt x="0" y="528052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6238312" cy="57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753" y="3658491"/>
            <a:ext cx="7659747" cy="6220493"/>
            <a:chOff x="0" y="0"/>
            <a:chExt cx="2017382" cy="1638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7382" cy="1638319"/>
            </a:xfrm>
            <a:custGeom>
              <a:avLst/>
              <a:gdLst/>
              <a:ahLst/>
              <a:cxnLst/>
              <a:rect l="l" t="t" r="r" b="b"/>
              <a:pathLst>
                <a:path w="2017382" h="1638319">
                  <a:moveTo>
                    <a:pt x="0" y="0"/>
                  </a:moveTo>
                  <a:lnTo>
                    <a:pt x="2017382" y="0"/>
                  </a:lnTo>
                  <a:lnTo>
                    <a:pt x="2017382" y="1638319"/>
                  </a:lnTo>
                  <a:lnTo>
                    <a:pt x="0" y="1638319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17382" cy="168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332163" y="3658491"/>
            <a:ext cx="2408944" cy="2318228"/>
          </a:xfrm>
          <a:custGeom>
            <a:avLst/>
            <a:gdLst/>
            <a:ahLst/>
            <a:cxnLst/>
            <a:rect l="l" t="t" r="r" b="b"/>
            <a:pathLst>
              <a:path w="2408944" h="2318228">
                <a:moveTo>
                  <a:pt x="0" y="0"/>
                </a:moveTo>
                <a:lnTo>
                  <a:pt x="2408944" y="0"/>
                </a:lnTo>
                <a:lnTo>
                  <a:pt x="2408944" y="2318229"/>
                </a:lnTo>
                <a:lnTo>
                  <a:pt x="0" y="2318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56" b="-19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44757" y="4232489"/>
            <a:ext cx="3428275" cy="4670084"/>
          </a:xfrm>
          <a:custGeom>
            <a:avLst/>
            <a:gdLst/>
            <a:ahLst/>
            <a:cxnLst/>
            <a:rect l="l" t="t" r="r" b="b"/>
            <a:pathLst>
              <a:path w="3428275" h="4670084">
                <a:moveTo>
                  <a:pt x="0" y="0"/>
                </a:moveTo>
                <a:lnTo>
                  <a:pt x="3428274" y="0"/>
                </a:lnTo>
                <a:lnTo>
                  <a:pt x="3428274" y="4670084"/>
                </a:lnTo>
                <a:lnTo>
                  <a:pt x="0" y="4670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211" t="-9906" b="-9906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230306" y="7043520"/>
            <a:ext cx="3189476" cy="2953845"/>
          </a:xfrm>
          <a:custGeom>
            <a:avLst/>
            <a:gdLst/>
            <a:ahLst/>
            <a:cxnLst/>
            <a:rect l="l" t="t" r="r" b="b"/>
            <a:pathLst>
              <a:path w="3189476" h="2953845">
                <a:moveTo>
                  <a:pt x="0" y="0"/>
                </a:moveTo>
                <a:lnTo>
                  <a:pt x="3189477" y="0"/>
                </a:lnTo>
                <a:lnTo>
                  <a:pt x="3189477" y="2953845"/>
                </a:lnTo>
                <a:lnTo>
                  <a:pt x="0" y="2953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586" t="-23510" r="-26205" b="-4686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388421" y="923614"/>
            <a:ext cx="11511157" cy="203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9"/>
              </a:lnSpc>
            </a:pPr>
            <a:r>
              <a:rPr lang="en-US" sz="7599" dirty="0">
                <a:solidFill>
                  <a:srgbClr val="00000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HARDWARE REQUIREMENTS</a:t>
            </a:r>
          </a:p>
          <a:p>
            <a:pPr algn="ctr">
              <a:lnSpc>
                <a:spcPts val="7999"/>
              </a:lnSpc>
            </a:pPr>
            <a:endParaRPr lang="en-US" sz="7599" dirty="0">
              <a:solidFill>
                <a:srgbClr val="000000"/>
              </a:solidFill>
              <a:latin typeface="Bernoru SemiCondensed"/>
              <a:ea typeface="Bernoru SemiCondensed"/>
              <a:cs typeface="Bernoru SemiCondensed"/>
              <a:sym typeface="Bernoru SemiCondensed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 rot="10800000" flipV="1">
            <a:off x="1752600" y="3979337"/>
            <a:ext cx="5638800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or laptop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processor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4 GB RAM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Sufficient storage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Keyboard, mouse, and monitor </a:t>
            </a:r>
          </a:p>
        </p:txBody>
      </p:sp>
      <p:pic>
        <p:nvPicPr>
          <p:cNvPr id="17" name="Picture 4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221" y="-26577"/>
            <a:ext cx="1581150" cy="142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342900"/>
            <a:ext cx="10069189" cy="9372600"/>
            <a:chOff x="0" y="0"/>
            <a:chExt cx="3374456" cy="325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74456" cy="3250523"/>
            </a:xfrm>
            <a:custGeom>
              <a:avLst/>
              <a:gdLst/>
              <a:ahLst/>
              <a:cxnLst/>
              <a:rect l="l" t="t" r="r" b="b"/>
              <a:pathLst>
                <a:path w="3374456" h="3250523">
                  <a:moveTo>
                    <a:pt x="0" y="0"/>
                  </a:moveTo>
                  <a:lnTo>
                    <a:pt x="3374456" y="0"/>
                  </a:lnTo>
                  <a:lnTo>
                    <a:pt x="3374456" y="3250523"/>
                  </a:lnTo>
                  <a:lnTo>
                    <a:pt x="0" y="3250523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74456" cy="329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515600" y="1540329"/>
            <a:ext cx="7436094" cy="7926069"/>
          </a:xfrm>
          <a:custGeom>
            <a:avLst/>
            <a:gdLst/>
            <a:ahLst/>
            <a:cxnLst/>
            <a:rect l="l" t="t" r="r" b="b"/>
            <a:pathLst>
              <a:path w="7436094" h="7926069">
                <a:moveTo>
                  <a:pt x="0" y="0"/>
                </a:moveTo>
                <a:lnTo>
                  <a:pt x="7436094" y="0"/>
                </a:lnTo>
                <a:lnTo>
                  <a:pt x="7436094" y="7926069"/>
                </a:lnTo>
                <a:lnTo>
                  <a:pt x="0" y="792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85800" y="571500"/>
            <a:ext cx="7845640" cy="2070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7999" b="1" dirty="0">
                <a:solidFill>
                  <a:srgbClr val="00000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4. METHODOLOGY</a:t>
            </a:r>
          </a:p>
          <a:p>
            <a:pPr algn="l">
              <a:lnSpc>
                <a:spcPts val="7999"/>
              </a:lnSpc>
            </a:pPr>
            <a:endParaRPr lang="en-US" sz="7999" b="1" dirty="0">
              <a:solidFill>
                <a:srgbClr val="000000"/>
              </a:solidFill>
              <a:latin typeface="Bernoru SemiCondensed"/>
              <a:ea typeface="Bernoru SemiCondensed"/>
              <a:cs typeface="Bernoru SemiCondensed"/>
              <a:sym typeface="Bernoru Semi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04799" y="1622877"/>
            <a:ext cx="10069189" cy="8079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Step 1: Input Document – </a:t>
            </a:r>
            <a:endParaRPr lang="en-US" sz="2932" dirty="0" smtClean="0">
              <a:solidFill>
                <a:srgbClr val="000000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provide </a:t>
            </a: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the document and reference documents</a:t>
            </a:r>
            <a:r>
              <a:rPr lang="en-US" sz="2932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endParaRPr lang="en-US" sz="2932" dirty="0">
              <a:solidFill>
                <a:srgbClr val="000000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Step 2: Text Extraction – extract text from the documents</a:t>
            </a:r>
            <a:r>
              <a:rPr lang="en-US" sz="2932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endParaRPr lang="en-US" sz="2932" dirty="0">
              <a:solidFill>
                <a:srgbClr val="000000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Step 3: Text Preprocessing – lowercase conversion, </a:t>
            </a:r>
            <a:r>
              <a:rPr lang="en-US" sz="2932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punctuation </a:t>
            </a: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removal, stop-word removal, and tokenization</a:t>
            </a:r>
            <a:r>
              <a:rPr lang="en-US" sz="2932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endParaRPr lang="en-US" sz="2932" dirty="0">
              <a:solidFill>
                <a:srgbClr val="000000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Step 4: Word-Level Comparison – identify matching words, repeated words, and common sequences</a:t>
            </a:r>
            <a:r>
              <a:rPr lang="en-US" sz="2932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endParaRPr lang="en-US" sz="2932" dirty="0">
              <a:solidFill>
                <a:srgbClr val="000000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Step 5: Similarity Calculation – calculate the similarity percentage</a:t>
            </a:r>
            <a:r>
              <a:rPr lang="en-US" sz="2932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  <a:endParaRPr lang="en-US" sz="2932" dirty="0">
              <a:solidFill>
                <a:srgbClr val="000000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Step 6: Plagiarism Detection – analyze the similarity score</a:t>
            </a:r>
            <a:r>
              <a:rPr lang="en-US" sz="2932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.</a:t>
            </a: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endParaRPr lang="en-US" sz="2932" dirty="0">
              <a:solidFill>
                <a:srgbClr val="000000"/>
              </a:solidFill>
              <a:latin typeface="Times New Roman" panose="02020603050405020304" pitchFamily="18" charset="0"/>
              <a:ea typeface="Roboto Condensed"/>
              <a:cs typeface="Times New Roman" panose="02020603050405020304" pitchFamily="18" charset="0"/>
              <a:sym typeface="Roboto Condensed"/>
            </a:endParaRP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Step 7: Report Generation – generate matched content, score, and plagiarism indication.</a:t>
            </a:r>
          </a:p>
          <a:p>
            <a:pPr marL="633214" lvl="1" indent="-316607">
              <a:lnSpc>
                <a:spcPts val="3460"/>
              </a:lnSpc>
              <a:buFont typeface="Arial"/>
              <a:buChar char="•"/>
            </a:pPr>
            <a:r>
              <a:rPr lang="en-US" sz="2932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Step 8: Display Results – present the report to the user.</a:t>
            </a:r>
          </a:p>
        </p:txBody>
      </p:sp>
      <p:pic>
        <p:nvPicPr>
          <p:cNvPr id="8" name="Picture 4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221" y="-26577"/>
            <a:ext cx="1581150" cy="142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157854" y="2933701"/>
            <a:ext cx="8458199" cy="6705600"/>
            <a:chOff x="0" y="0"/>
            <a:chExt cx="2017382" cy="1638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7382" cy="1638319"/>
            </a:xfrm>
            <a:custGeom>
              <a:avLst/>
              <a:gdLst/>
              <a:ahLst/>
              <a:cxnLst/>
              <a:rect l="l" t="t" r="r" b="b"/>
              <a:pathLst>
                <a:path w="2017382" h="1638319">
                  <a:moveTo>
                    <a:pt x="0" y="0"/>
                  </a:moveTo>
                  <a:lnTo>
                    <a:pt x="2017382" y="0"/>
                  </a:lnTo>
                  <a:lnTo>
                    <a:pt x="2017382" y="1638319"/>
                  </a:lnTo>
                  <a:lnTo>
                    <a:pt x="0" y="1638319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17382" cy="168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2933701"/>
            <a:ext cx="7976849" cy="6611439"/>
          </a:xfrm>
          <a:custGeom>
            <a:avLst/>
            <a:gdLst/>
            <a:ahLst/>
            <a:cxnLst/>
            <a:rect l="l" t="t" r="r" b="b"/>
            <a:pathLst>
              <a:path w="7976849" h="6076909">
                <a:moveTo>
                  <a:pt x="0" y="0"/>
                </a:moveTo>
                <a:lnTo>
                  <a:pt x="7976850" y="0"/>
                </a:lnTo>
                <a:lnTo>
                  <a:pt x="7976850" y="6076909"/>
                </a:lnTo>
                <a:lnTo>
                  <a:pt x="0" y="60769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88421" y="1131040"/>
            <a:ext cx="11511157" cy="2070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7999" dirty="0">
                <a:solidFill>
                  <a:srgbClr val="00000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LITERATURE SURVEY</a:t>
            </a:r>
          </a:p>
          <a:p>
            <a:pPr algn="ctr">
              <a:lnSpc>
                <a:spcPts val="7999"/>
              </a:lnSpc>
            </a:pPr>
            <a:endParaRPr lang="en-US" sz="7999" dirty="0">
              <a:solidFill>
                <a:srgbClr val="000000"/>
              </a:solidFill>
              <a:latin typeface="Bernoru SemiCondensed"/>
              <a:ea typeface="Bernoru SemiCondensed"/>
              <a:cs typeface="Bernoru SemiCondensed"/>
              <a:sym typeface="Bernoru SemiCondensed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 rot="10800000" flipV="1">
            <a:off x="9462653" y="3174165"/>
            <a:ext cx="784860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Converts text to lowercase, removes punctuation and stop words, and tokenizes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Matching: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Compares individual words to identify matching content between documents.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 Matching: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Identifies common words and consecutive word sequences.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Measurement: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matching content to calculate a similarity percentage.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Displays matched content, similarity score, and possible plagiarism.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Methods: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and Machine Learning can be used in future to detect deeper similarities. </a:t>
            </a:r>
          </a:p>
        </p:txBody>
      </p:sp>
      <p:pic>
        <p:nvPicPr>
          <p:cNvPr id="10" name="Picture 4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221" y="-26577"/>
            <a:ext cx="1581150" cy="142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0" y="353356"/>
            <a:ext cx="18288000" cy="2004947"/>
            <a:chOff x="0" y="0"/>
            <a:chExt cx="6238312" cy="528052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6238312" cy="528052"/>
            </a:xfrm>
            <a:custGeom>
              <a:avLst/>
              <a:gdLst/>
              <a:ahLst/>
              <a:cxnLst/>
              <a:rect l="l" t="t" r="r" b="b"/>
              <a:pathLst>
                <a:path w="6238312" h="528052">
                  <a:moveTo>
                    <a:pt x="0" y="0"/>
                  </a:moveTo>
                  <a:lnTo>
                    <a:pt x="6238312" y="0"/>
                  </a:lnTo>
                  <a:lnTo>
                    <a:pt x="6238312" y="528052"/>
                  </a:lnTo>
                  <a:lnTo>
                    <a:pt x="0" y="528052"/>
                  </a:lnTo>
                  <a:close/>
                </a:path>
              </a:pathLst>
            </a:custGeom>
            <a:solidFill>
              <a:srgbClr val="FAF4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4"/>
            <p:cNvSpPr txBox="1"/>
            <p:nvPr/>
          </p:nvSpPr>
          <p:spPr>
            <a:xfrm>
              <a:off x="0" y="-47625"/>
              <a:ext cx="6238312" cy="57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5257800" y="641463"/>
            <a:ext cx="7319665" cy="1247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1" dirty="0">
                <a:solidFill>
                  <a:srgbClr val="000000"/>
                </a:solidFill>
                <a:latin typeface="Times New Roman" panose="02020603050405020304" pitchFamily="18" charset="0"/>
                <a:ea typeface="Roboto Condensed"/>
                <a:cs typeface="Times New Roman" panose="02020603050405020304" pitchFamily="18" charset="0"/>
                <a:sym typeface="Roboto Condensed"/>
              </a:rPr>
              <a:t>CONCLUSION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1143000" y="2177476"/>
            <a:ext cx="10591800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simple method for plagiarism detection.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Finds matching words and phrases.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 similarity percentage.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understandable plagiarism report.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checking effort.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with NLP and Machine Learning in the future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8" name="Picture 4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221" y="-26577"/>
            <a:ext cx="1581150" cy="142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87754" y="3012757"/>
            <a:ext cx="8512493" cy="2331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 b="1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THANK YOU</a:t>
            </a:r>
          </a:p>
        </p:txBody>
      </p:sp>
      <p:pic>
        <p:nvPicPr>
          <p:cNvPr id="3" name="Picture 4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221" y="-26577"/>
            <a:ext cx="1581150" cy="142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443</Words>
  <Application>Microsoft Office PowerPoint</Application>
  <PresentationFormat>Custom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Roboto Condensed</vt:lpstr>
      <vt:lpstr>Times New Roman</vt:lpstr>
      <vt:lpstr>Arial</vt:lpstr>
      <vt:lpstr>Bernoru SemiCondensed</vt:lpstr>
      <vt:lpstr>Canva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Word-Level Plagiarism Checker for Short Documents</dc:title>
  <cp:lastModifiedBy>Lenovo</cp:lastModifiedBy>
  <cp:revision>9</cp:revision>
  <dcterms:created xsi:type="dcterms:W3CDTF">2006-08-16T00:00:00Z</dcterms:created>
  <dcterms:modified xsi:type="dcterms:W3CDTF">2026-09-24T06:59:30Z</dcterms:modified>
  <dc:identifier>DAHSzCOxk4U</dc:identifier>
</cp:coreProperties>
</file>